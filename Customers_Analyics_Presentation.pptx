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6" r:id="rId8"/>
    <p:sldId id="268" r:id="rId9"/>
    <p:sldId id="270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AUTOMATED CUSTOMER TRANSACTION ANALYTICS INFRASTRUCTURE</a:t>
            </a:r>
          </a:p>
          <a:p>
            <a:pPr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Combining SQL Server, Python Pipelines, and the Power BI Modern Fluent Data Visual 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F73"/>
                </a:solidFill>
                <a:latin typeface="Arial"/>
              </a:defRPr>
            </a:pPr>
            <a:r>
              <a:t>Database Architecture Layer (Staging Optimization)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Staging Layer Setup:</a:t>
            </a:r>
            <a:r>
              <a:rPr sz="1800">
                <a:solidFill>
                  <a:srgbClr val="1E293B"/>
                </a:solidFill>
              </a:rPr>
              <a:t> Built an isolated SQL Server staging environment using the CustomerTransactions table schema.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Pre-Aggregation Strategy:</a:t>
            </a:r>
            <a:r>
              <a:rPr sz="1800">
                <a:solidFill>
                  <a:srgbClr val="1E293B"/>
                </a:solidFill>
              </a:rPr>
              <a:t> Implemented explicit computing of the LineTotal metric (Quantity * Price) at the database layer via Stored Procedures.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Performance Tuning:</a:t>
            </a:r>
            <a:r>
              <a:rPr sz="1800">
                <a:solidFill>
                  <a:srgbClr val="1E293B"/>
                </a:solidFill>
              </a:rPr>
              <a:t> Reduced operational overhead and frontend lag in Power BI by moving heavy calculations away from the client presentation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F73"/>
                </a:solidFill>
                <a:latin typeface="Arial"/>
              </a:defRPr>
            </a:pPr>
            <a:r>
              <a:t>ETL Ingestion &amp; Orchestration Middleware (Python Engine)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Robust Connection Handling:</a:t>
            </a:r>
            <a:r>
              <a:rPr sz="1800">
                <a:solidFill>
                  <a:srgbClr val="1E293B"/>
                </a:solidFill>
              </a:rPr>
              <a:t> Implemented Python scripts leveraging the raw string prefix (r"...") to neutralize escape sequence warnings for SQL Server instance identifiers like .\SQLEXPRESS.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Pandas Transformation Core:</a:t>
            </a:r>
            <a:r>
              <a:rPr sz="1800">
                <a:solidFill>
                  <a:srgbClr val="1E293B"/>
                </a:solidFill>
              </a:rPr>
              <a:t> Standardized typecasting for strict data integrity, handling datetime transformations for InvoiceDate, and converting CustomerID fields into clean textual strings.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Data Sanitation:</a:t>
            </a:r>
            <a:r>
              <a:rPr sz="1800">
                <a:solidFill>
                  <a:srgbClr val="1E293B"/>
                </a:solidFill>
              </a:rPr>
              <a:t> Automated whitespace trimming across categorical fields (Country, Description) to eliminate string formatting errors inside front-end visual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F73"/>
                </a:solidFill>
                <a:latin typeface="Arial"/>
              </a:defRPr>
            </a:pPr>
            <a:r>
              <a:t>Database Architecture Layer (Staging Optimization)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Staging Layer Setup:</a:t>
            </a:r>
            <a:r>
              <a:rPr sz="1800">
                <a:solidFill>
                  <a:srgbClr val="1E293B"/>
                </a:solidFill>
              </a:rPr>
              <a:t> Built an isolated SQL Server staging environment using the CustomerTransactions table schema.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Pre-Aggregation Strategy:</a:t>
            </a:r>
            <a:r>
              <a:rPr sz="1800">
                <a:solidFill>
                  <a:srgbClr val="1E293B"/>
                </a:solidFill>
              </a:rPr>
              <a:t> Implemented explicit computing of the LineTotal metric (Quantity * Price) at the database layer via Stored Procedures.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1E293B"/>
                </a:solidFill>
              </a:rPr>
              <a:t>Performance Tuning:</a:t>
            </a:r>
            <a:r>
              <a:rPr sz="1800">
                <a:solidFill>
                  <a:srgbClr val="1E293B"/>
                </a:solidFill>
              </a:rPr>
              <a:t> Reduced operational overhead and frontend lag in Power BI by moving heavy calculations away from the client presentation engine.</a:t>
            </a:r>
          </a:p>
        </p:txBody>
      </p:sp>
    </p:spTree>
    <p:extLst>
      <p:ext uri="{BB962C8B-B14F-4D97-AF65-F5344CB8AC3E}">
        <p14:creationId xmlns:p14="http://schemas.microsoft.com/office/powerpoint/2010/main" val="195078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F73"/>
                </a:solidFill>
                <a:latin typeface="Arial"/>
              </a:defRPr>
            </a:pPr>
            <a:r>
              <a:t>Dashboard Visualization Matrix (Power BI UI Mapping)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457200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Visual Target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Mapped Field Parameters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 &amp; Logic Details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Invoice Buckets (Bins of LineTotal)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Displays distribution of transaction values. Built by creating custom numeric intervals on LineTotal, using distinct count of Invoice on Y-axis.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Pie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Country (Legend), LineTotal (Values)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Illustrates global geographic revenue contribution across markets. Enhanced with descriptive data labels showing category and total percentages.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Donut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IsActiveCustomer, Customer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Segments active versus inactive client base composition. Configured with a distinct count of CustomerID and tooltips showing Average Order Value.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Clustered Bar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Description (Y-Axis), Quantity (X-Axis)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Identifies the highest volume inventory assets. Polished by executing a programmatic 'Top N' threshold filter to render the top performing products.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6" y="177422"/>
            <a:ext cx="11670349" cy="656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882"/>
                </a:solidFill>
                <a:latin typeface="Arial"/>
              </a:defRPr>
            </a:pPr>
            <a:r>
              <a:rPr sz="1000" b="1">
                <a:solidFill>
                  <a:srgbClr val="007882"/>
                </a:solidFill>
                <a:latin typeface="Arial"/>
              </a:rPr>
              <a:t>DATABASE LAYER &amp;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12529"/>
                </a:solidFill>
                <a:latin typeface="Arial"/>
              </a:defRPr>
            </a:pPr>
            <a:r>
              <a:rPr sz="2400" b="1">
                <a:solidFill>
                  <a:srgbClr val="212529"/>
                </a:solidFill>
                <a:latin typeface="Arial"/>
              </a:rPr>
              <a:t>SQL Server Stored Procedure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7882"/>
                </a:solidFill>
              </a:defRPr>
            </a:pPr>
            <a:r>
              <a:rPr b="1">
                <a:solidFill>
                  <a:srgbClr val="007882"/>
                </a:solidFill>
              </a:rPr>
              <a:t>Database Design Blueprint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rPr sz="1300">
                <a:solidFill>
                  <a:srgbClr val="212529"/>
                </a:solidFill>
              </a:rPr>
              <a:t>• Staging Layer Layout: Structured 'CustomerTransactions' relational schema tracking core transactional properties natively.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rPr sz="1300">
                <a:solidFill>
                  <a:srgbClr val="212529"/>
                </a:solidFill>
              </a:rPr>
              <a:t>• Performance Optimization: Implemented 'SET NOCOUNT ON' within runtime batches to minimize network transport footprints.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rPr sz="1300">
                <a:solidFill>
                  <a:srgbClr val="212529"/>
                </a:solidFill>
              </a:rPr>
              <a:t>• Server-Side Transformation: Computes 'LineTotal' mathematically (Quantity * Price) directly inside database storage.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rPr sz="1300">
                <a:solidFill>
                  <a:srgbClr val="212529"/>
                </a:solidFill>
              </a:rPr>
              <a:t>• Data Integrity Scrubbing: Stored procedure drops rows with NULL customer indices or negative quantity anomalies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2529"/>
                </a:solidFill>
              </a:defRPr>
            </a:pPr>
            <a:r>
              <a:rPr b="1">
                <a:solidFill>
                  <a:srgbClr val="212529"/>
                </a:solidFill>
              </a:rPr>
              <a:t>Procedure Execution Command</a:t>
            </a:r>
          </a:p>
          <a:p>
            <a:pPr>
              <a:spcAft>
                <a:spcPts val="2000"/>
              </a:spcAft>
              <a:defRPr sz="1500" b="1">
                <a:solidFill>
                  <a:srgbClr val="007882"/>
                </a:solidFill>
                <a:latin typeface="Consolas"/>
              </a:defRPr>
            </a:pPr>
            <a:r>
              <a:rPr sz="1500" b="1">
                <a:solidFill>
                  <a:srgbClr val="007882"/>
                </a:solidFill>
                <a:latin typeface="Consolas"/>
              </a:rPr>
              <a:t>EXEC [dbo].[GetProcessedCustomerData]</a:t>
            </a:r>
          </a:p>
          <a:p>
            <a:pPr>
              <a:defRPr sz="1300">
                <a:solidFill>
                  <a:srgbClr val="6C757D"/>
                </a:solidFill>
              </a:defRPr>
            </a:pPr>
            <a:r>
              <a:rPr sz="1300">
                <a:solidFill>
                  <a:srgbClr val="6C757D"/>
                </a:solidFill>
              </a:rPr>
              <a:t>By shifting computational aggregation logic down into the database tier using modular relational execution groups, the enterprise pipeline shields frontend visualization tiers from processing overhead—enabling high performance even across dense datasets.</a:t>
            </a:r>
          </a:p>
        </p:txBody>
      </p:sp>
    </p:spTree>
    <p:extLst>
      <p:ext uri="{BB962C8B-B14F-4D97-AF65-F5344CB8AC3E}">
        <p14:creationId xmlns:p14="http://schemas.microsoft.com/office/powerpoint/2010/main" val="314209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882"/>
                </a:solidFill>
                <a:latin typeface="Arial"/>
              </a:defRPr>
            </a:pPr>
            <a:r>
              <a:t>ETL ORCHESTRATION MIDDLEWARE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12529"/>
                </a:solidFill>
                <a:latin typeface="Arial"/>
              </a:defRPr>
            </a:pPr>
            <a:r>
              <a:t>Python &amp; Pandas Data Transformation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3284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007882"/>
                </a:solidFill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600" b="1">
                <a:solidFill>
                  <a:srgbClr val="212529"/>
                </a:solidFill>
              </a:defRPr>
            </a:pPr>
            <a:r>
              <a:t>Secure DB Connection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Establishes a pyodbc link utilizing a raw string modifier r"..." to fully neutralize special escape character warnings (e.g. \S in .\SQLEXPRESS) while leveraging Windows Trusted Authentication.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5696" y="2011680"/>
            <a:ext cx="33284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007882"/>
                </a:solidFill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600" b="1">
                <a:solidFill>
                  <a:srgbClr val="212529"/>
                </a:solidFill>
              </a:defRPr>
            </a:pPr>
            <a:r>
              <a:t>Pandas Structural Typecast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Natively ingest stored procedure tabular results into a Pandas DataFrame context. Explicitly maps datetime structures and casts relational keys like CustomerID safely into string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9872" y="2011680"/>
            <a:ext cx="332841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007882"/>
                </a:solidFill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600" b="1">
                <a:solidFill>
                  <a:srgbClr val="212529"/>
                </a:solidFill>
              </a:defRPr>
            </a:pPr>
            <a:r>
              <a:t>Whitespace &amp; Ingestion Polish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Performs standard programmatic string stripping (.str.strip()) on text categories to purge blank padding, outputting clean columns seamlessly accessible inside Power BI runtime engines.</a:t>
            </a:r>
          </a:p>
        </p:txBody>
      </p:sp>
    </p:spTree>
    <p:extLst>
      <p:ext uri="{BB962C8B-B14F-4D97-AF65-F5344CB8AC3E}">
        <p14:creationId xmlns:p14="http://schemas.microsoft.com/office/powerpoint/2010/main" val="175263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882"/>
                </a:solidFill>
                <a:latin typeface="Arial"/>
              </a:defRPr>
            </a:pPr>
            <a:r>
              <a:rPr sz="1000" b="1">
                <a:solidFill>
                  <a:srgbClr val="007882"/>
                </a:solidFill>
                <a:latin typeface="Arial"/>
              </a:rPr>
              <a:t>FRONTEND REPORT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12529"/>
                </a:solidFill>
                <a:latin typeface="Arial"/>
              </a:defRPr>
            </a:pPr>
            <a:r>
              <a:rPr sz="2400" b="1">
                <a:solidFill>
                  <a:srgbClr val="212529"/>
                </a:solidFill>
                <a:latin typeface="Arial"/>
              </a:rPr>
              <a:t>Power BI Visual Ingestion &amp; DAX Analytics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3596335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VISUAL CHART</a:t>
                      </a:r>
                    </a:p>
                  </a:txBody>
                  <a:tcPr>
                    <a:solidFill>
                      <a:srgbClr val="0078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 MAPPING: AXIS/LEGEND</a:t>
                      </a:r>
                    </a:p>
                  </a:txBody>
                  <a:tcPr>
                    <a:solidFill>
                      <a:srgbClr val="0078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 MAPPING: VALUES/MEASURES</a:t>
                      </a:r>
                    </a:p>
                  </a:txBody>
                  <a:tcPr>
                    <a:solidFill>
                      <a:srgbClr val="0078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ANALYTICAL DESIGN GOAL</a:t>
                      </a:r>
                    </a:p>
                  </a:txBody>
                  <a:tcPr>
                    <a:solidFill>
                      <a:srgbClr val="0078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Histogram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LineTotal (Configured Into Numeric Bins of 50/100)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Distinct Count of 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Visually maps transaction size distribution frequencies accurately.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Pie Chart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Country (Categorical Groupings)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Total Revenue Measure [Sum of LineTotal]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Highlights total geographical market share split between United Kingdom and France.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Donut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IsActiveCustomer (Binary Filter States)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Distinct Count of CustomerID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Tracks customer base health segmentation; passes AOV inside active hover tooltips.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Clustered Bar Chart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Product Description (Categorical Rows)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Sum of Quantity Sold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Filters data dynamically using Top N configurations to surface Top 5 selling lines.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30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882"/>
                </a:solidFill>
                <a:latin typeface="Arial"/>
              </a:defRPr>
            </a:pPr>
            <a:r>
              <a:rPr sz="1000" b="1">
                <a:solidFill>
                  <a:srgbClr val="007882"/>
                </a:solidFill>
                <a:latin typeface="Arial"/>
              </a:rPr>
              <a:t>ADVANCED ANALYTICS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12529"/>
                </a:solidFill>
                <a:latin typeface="Arial"/>
              </a:defRPr>
            </a:pPr>
            <a:r>
              <a:rPr sz="2400" b="1">
                <a:solidFill>
                  <a:srgbClr val="212529"/>
                </a:solidFill>
                <a:latin typeface="Arial"/>
              </a:rPr>
              <a:t>Time-Intelligence &amp; Value Modeling DAX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7882"/>
                </a:solidFill>
              </a:defRPr>
            </a:pPr>
            <a:r>
              <a:rPr sz="1600" b="1">
                <a:solidFill>
                  <a:srgbClr val="007882"/>
                </a:solidFill>
              </a:rPr>
              <a:t>Advanced Analytical DAX Measures</a:t>
            </a:r>
          </a:p>
          <a:p>
            <a:pPr>
              <a:spcAft>
                <a:spcPts val="1000"/>
              </a:spcAft>
              <a:defRPr sz="1100">
                <a:solidFill>
                  <a:srgbClr val="212529"/>
                </a:solidFill>
                <a:latin typeface="Consolas"/>
              </a:defRPr>
            </a:pPr>
            <a:r>
              <a:rPr sz="1100">
                <a:solidFill>
                  <a:srgbClr val="212529"/>
                </a:solidFill>
                <a:latin typeface="Consolas"/>
              </a:rPr>
              <a:t>Average Order Value (AOV):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AOV = DIVIDE(SUM(LineTotal), DISTINCTCOUNT(Invoice), 0)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/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Month-over-Month (MoM) Revenue Growth: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MoM Growth = 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VAR Curr = SUM(LineTotal)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VAR Prev = CALCULATE(SUM(LineTotal), DATEADD(InvoiceDate, -1, MONTH))</a:t>
            </a:r>
            <a:br>
              <a:rPr sz="1100">
                <a:solidFill>
                  <a:srgbClr val="212529"/>
                </a:solidFill>
                <a:latin typeface="Consolas"/>
              </a:rPr>
            </a:br>
            <a:r>
              <a:rPr sz="1100">
                <a:solidFill>
                  <a:srgbClr val="212529"/>
                </a:solidFill>
                <a:latin typeface="Consolas"/>
              </a:rPr>
              <a:t>RETURN DIVIDE(Curr - Prev, Prev,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12529"/>
                </a:solidFill>
              </a:defRPr>
            </a:pPr>
            <a:r>
              <a:rPr sz="1600" b="1">
                <a:solidFill>
                  <a:srgbClr val="212529"/>
                </a:solidFill>
              </a:rPr>
              <a:t>Modeling Best Practices Implemented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</a:defRPr>
            </a:pPr>
            <a:r>
              <a:rPr sz="1300">
                <a:solidFill>
                  <a:srgbClr val="6C757D"/>
                </a:solidFill>
              </a:rPr>
              <a:t>• Divided Safe Math Protection: Utilizing the 'DIVIDE' operator universally to completely secure calculations against zero-denominator runtime crashes.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</a:defRPr>
            </a:pPr>
            <a:r>
              <a:rPr sz="1300">
                <a:solidFill>
                  <a:srgbClr val="6C757D"/>
                </a:solidFill>
              </a:rPr>
              <a:t>• Widescreen In-Memory Performance: Small historical row frameworks (e.g., 56 rows) execute instantaneously via Import Mode, pulling pre-compressed relational arrays.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</a:defRPr>
            </a:pPr>
            <a:r>
              <a:rPr sz="1300">
                <a:solidFill>
                  <a:srgbClr val="6C757D"/>
                </a:solidFill>
              </a:rPr>
              <a:t>• Dynamic Context Filtering: Time-intelligence calculations scale fluidly inside Power BI reporting layouts when sliced against dimensions like Country or Customer ID.</a:t>
            </a:r>
          </a:p>
        </p:txBody>
      </p:sp>
    </p:spTree>
    <p:extLst>
      <p:ext uri="{BB962C8B-B14F-4D97-AF65-F5344CB8AC3E}">
        <p14:creationId xmlns:p14="http://schemas.microsoft.com/office/powerpoint/2010/main" val="219172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16" y="723332"/>
            <a:ext cx="10522424" cy="23064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16" y="4203510"/>
            <a:ext cx="10522424" cy="2292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64423" y="328512"/>
            <a:ext cx="271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Sum of Price By Year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664422" y="3534770"/>
            <a:ext cx="347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Sum Of </a:t>
            </a:r>
            <a:r>
              <a:rPr lang="en-IN" b="1" dirty="0" err="1" smtClean="0"/>
              <a:t>Linetotal</a:t>
            </a:r>
            <a:r>
              <a:rPr lang="en-IN" b="1" dirty="0" smtClean="0"/>
              <a:t> By Country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3633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5" y="791570"/>
            <a:ext cx="11228084" cy="27340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5" y="4312692"/>
            <a:ext cx="11228084" cy="23941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7725" y="388540"/>
            <a:ext cx="271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Sum of Price By Country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903260" y="3734501"/>
            <a:ext cx="363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Sum of Quantity By Country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6524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52" y="1321385"/>
            <a:ext cx="8335538" cy="4515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7725" y="573206"/>
            <a:ext cx="3725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Sum of Line Total By Country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0884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870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Abhijit</cp:lastModifiedBy>
  <cp:revision>4</cp:revision>
  <dcterms:created xsi:type="dcterms:W3CDTF">2013-01-27T09:14:16Z</dcterms:created>
  <dcterms:modified xsi:type="dcterms:W3CDTF">2026-10-20T12:17:23Z</dcterms:modified>
  <cp:category/>
</cp:coreProperties>
</file>